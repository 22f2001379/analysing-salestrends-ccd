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2e5d5cb4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2e5d5cb4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2e5d5cb4c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82e5d5cb4c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2e5d5cb4c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2e5d5cb4c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2e5d5cb4c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82e5d5cb4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2e5d5cb4c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2e5d5cb4c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2e5d5cb4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2e5d5cb4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2e5d5cb4c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2e5d5cb4c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82e5d5cb4c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82e5d5cb4c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2e5d5cb4c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2e5d5cb4c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med" p14:dur="600">
        <p:fade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pp.powerbi.com/groups/me/datasets/af7ec2ca-06a2-4a04-bd4c-8e950610d5b2?experience=power-bi" TargetMode="External"/><Relationship Id="rId4" Type="http://schemas.openxmlformats.org/officeDocument/2006/relationships/hyperlink" Target="https://drive.google.com/drive/folders/1YvoP2EDZRYYaZzY0HhEnvcNu-5Vqp-p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403500" y="713627"/>
            <a:ext cx="8222100" cy="137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Optimising CCD IITM Sales Through Data Analysis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60938" y="377243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BDM Capstone Project Presentation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Renee K. Paturi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22f2001379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3" title="Screenshot 2025-08-27 at 8.56.1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82553" y="2243034"/>
            <a:ext cx="1863996" cy="137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4007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Executive Summary &amp; 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240950" y="1176975"/>
            <a:ext cx="8776800" cy="3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5814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 Analyse ~90 days of CCD IITM transactions (~800 entries)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Context: Subsidised pricing under CMGFS policies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◦ Food contributes ~47% of revenue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◦ 20% products account for &gt;80% of sales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◦ Weekend &amp; evening peaks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◦ Weak snack-beverage correlation (cross-selling potential)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Overall: CCD IITM acts more like a fast-food provider than a coffee-first brand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Data &amp; Methodology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5814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Data: 800 transactions across 90 days (Aug–Dec 2024)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Collected via bills → transcribed into Google Sheets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Columns: Date, Category, Sub-category, Item, Qty, Net Sales (₹)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Methods: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◦ Descriptive statistics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◦ Pareto (80/20)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◦ Time-series analysis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◦ Pearson correlation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814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◦ Forecasting (Holt-Winters, SMA)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Key Finding 1: Revenue Contribution &amp; Pareto Effect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58025" y="16005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vs Beverages nearly equal (~47% vs 53%)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&lt;= 20% products drive &gt;80% of revenue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Coffee alone contributes ₹14 lakhs+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6" title="Screenshot 2025-08-27 at 10.34.05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5375" y="2046663"/>
            <a:ext cx="3099624" cy="285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Key Finding 2: Sales Trends &amp; Variability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sales skewed, mean ₹523, wide variability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Weekend &gt;350 customers vs 200–300 weekdays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Evenings busiest hours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875" y="2571748"/>
            <a:ext cx="5338124" cy="231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Key Finding 3: Cross-Selling Potential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Snack-beverage correlation weak (r=0.10)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Still potential for combo offers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Eg: Iced Mocha + Tandoori Chicken Sandwich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2476" y="2474450"/>
            <a:ext cx="3241524" cy="242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Forecasting &amp; Inventory Optimisation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Holt-Winters &amp; SMA show good accuracy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gaps: Iced Mocha, Cheese, Tandoori Chicken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inventory to avoid stockouts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7" name="Google Shape;12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5603" y="2571750"/>
            <a:ext cx="4688396" cy="232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Strategic Recommendations (Data-Driven)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Prioritise top SKUs, rationalise low-sellers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 food &amp; beverage positioning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Align staff/inventory with peaks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targeted combos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Forecast-driven stock management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Strategic Recommendations (Personal Observation)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11700" y="147082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items more clearly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Upsell cheese proactively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 bottled water sales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rapport with students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 stock for campus fests (e.g., Paradox)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Times New Roman"/>
                <a:ea typeface="Times New Roman"/>
                <a:cs typeface="Times New Roman"/>
                <a:sym typeface="Times New Roman"/>
              </a:rPr>
              <a:t>Conclusion &amp; Next Steps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4671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CCD IITM = fast-food oriented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 items dominate sales (Pareto effect)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Clear peaks: weekends, evenings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Combo offers = revenue growth opportunity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Steps: Monitor trends and apply recommendations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BI Dashboard: [</a:t>
            </a:r>
            <a:r>
              <a:rPr lang="en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Power Bi Dashboard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71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●"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 to the dataset and Analysis [</a:t>
            </a:r>
            <a:r>
              <a:rPr lang="en" sz="24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Dataset</a:t>
            </a: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